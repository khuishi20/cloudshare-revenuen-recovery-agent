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[SAY THIS] Hi, I'm Khushi. This is CloudShare Revenue Recovery Agent, my submission for the Razorpay AI Builder Internship 2026. It's a system that looks at failed payments and tries to recover the ones that are actually recoverable, in a structured and explainable way. [TIME: 25-30 sec]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[SAY THIS] A failed payment doesn't automatically mean a lost customer. It could be a timeout, an expired card, low balance, or someone just dropping off at checkout. Right now, figuring out which of these are actually recoverable takes manual effort — and treated the wrong way, that manual follow-up gap turns into real revenue leakage. So the question is: how can recoverable payment cases be identified and handled systematically? [TIME: 35 sec]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[SAY THIS] CloudShare turns that manual process into a structured workflow. When a payment event comes in, it runs a recovery analysis on the transaction context, produces an explainable diagnosis, chooses a bounded recovery action, and records that decision in an audit trail. This slide is about the product, not the code — the engineering is next. [TIME: 35 sec]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[SAY THIS] Here's the actual architecture. A payment or transaction event lands in the Spring Boot backend — that's where the APIs, the payment workflow, and the recovery orchestration live. Spring Boot calls a separate Python recovery agent, which does the recovery analysis, diagnosis, and recommendation. The result flows into a recovery audit log for traceability, and the dashboard reads from that log to give visibility into every case. [TIME: 45 sec]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[SAY THIS] This is the slide I care most about. The core money path — signals, recovery logic, the bounded financial action, and the audit trail — is fully deterministic. AI sits on a completely separate path, and it only touches natural-language recovery communication, nothing about the money. I intentionally did not give an LLM unrestricted control over financial actions. That keeps the system explainable and auditable. [TIME: 45 sec]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[SAY THIS] On the implementation side: the dashboard talks to REST APIs on a Java 17, Spring Boot backend, which uses MongoDB and integrates with Razorpay. That backend calls out to a separate Python, FastAPI recovery agent over REST. Spring Security protects the API, Maven manages the build, and configuration like Razorpay keys is kept in environment variables, not hard-coded. [TIME: 40 sec]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[SAY THIS] Four things were genuinely hard: wiring the Python agent to the Spring Boot app cleanly, designing decisions that stay explainable, defining where AI is and isn't allowed to act in a money workflow, and being disciplined about what's prototype behaviour versus production behaviour. What I took away: building AI for fintech isn't just about adding an LLM. It's about deciding where AI adds value, keeping critical decisions controlled, making actions auditable, and designing for real-world safety. [TIME: 40 sec]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[SAY THIS] Today, CloudShare gives a structured recovery workflow, explainable decisions, a full audit trail, and AI-assisted communication. The honest boundary is that some settlement and notification behaviour is simulated — it's not wired to production infrastructure yet. Next, I'd connect real payment webhooks, real notification channels, stronger monitoring, larger evaluation datasets, and more advanced agent planning — always within bounded financial actions. CloudShare is designed to turn payment recovery from a manual follow-up process into an explainable and auditable workflow. [TIME: 40 sec]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FAFBFF"/>
          </a:solidFill>
          <a:ln w="12700">
            <a:solidFill>
              <a:srgbClr val="E7EC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-731520"/>
            <a:ext cx="3291840" cy="3291840"/>
          </a:xfrm>
          <a:prstGeom prst="ellipse">
            <a:avLst/>
          </a:prstGeom>
          <a:ln w="19050">
            <a:solidFill>
              <a:srgbClr val="13B8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-365760"/>
            <a:ext cx="2560320" cy="2560320"/>
          </a:xfrm>
          <a:prstGeom prst="arc">
            <a:avLst>
              <a:gd name="adj1" fmla="val 12000000"/>
              <a:gd name="adj2" fmla="val 20400000"/>
            </a:avLst>
          </a:prstGeom>
          <a:ln w="38100">
            <a:solidFill>
              <a:srgbClr val="3159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BUILDER 2026  ·  REVENUE RECOVERY TRACK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8961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CloudShare Revenue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Agent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Failed Payments into Recoverable Revenue Opportunities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25400">
            <a:solidFill>
              <a:srgbClr val="13B89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989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Khushi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5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Failed Payment Is Not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a Lost Customer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failures can be temporary or recoverable — a timeout, an expired card, low balance, a dropped checkout.
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spotting these cases takes manual effort, and not every failed payment should be treated the same way.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4892040" cy="1417320"/>
          </a:xfrm>
          <a:prstGeom prst="roundRect">
            <a:avLst>
              <a:gd name="adj" fmla="val 7742"/>
            </a:avLst>
          </a:prstGeom>
          <a:solidFill>
            <a:srgbClr val="E7ECFA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4773168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recoverable payment cases be identified and handled systematically?”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20840" y="1508760"/>
            <a:ext cx="4617720" cy="1310640"/>
          </a:xfrm>
          <a:prstGeom prst="roundRect">
            <a:avLst>
              <a:gd name="adj" fmla="val 6977"/>
            </a:avLst>
          </a:prstGeom>
          <a:solidFill>
            <a:srgbClr val="F4F6FB"/>
          </a:solidFill>
          <a:ln w="12700">
            <a:solidFill>
              <a:srgbClr val="C7D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508760"/>
            <a:ext cx="46177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/ INCOMPLETE PAYMENT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029700" y="2819400"/>
            <a:ext cx="0" cy="320040"/>
          </a:xfrm>
          <a:prstGeom prst="line">
            <a:avLst/>
          </a:prstGeom>
          <a:noFill/>
          <a:ln w="285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20840" y="3139440"/>
            <a:ext cx="4617720" cy="1310640"/>
          </a:xfrm>
          <a:prstGeom prst="roundRect">
            <a:avLst>
              <a:gd name="adj" fmla="val 6977"/>
            </a:avLst>
          </a:prstGeom>
          <a:solidFill>
            <a:srgbClr val="E7ECFA"/>
          </a:solidFill>
          <a:ln w="12700">
            <a:solidFill>
              <a:srgbClr val="C7D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3139440"/>
            <a:ext cx="46177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FOLLOW-UP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029700" y="4450080"/>
            <a:ext cx="0" cy="320040"/>
          </a:xfrm>
          <a:prstGeom prst="line">
            <a:avLst/>
          </a:prstGeom>
          <a:noFill/>
          <a:ln w="28575">
            <a:solidFill>
              <a:srgbClr val="C0472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720840" y="4770120"/>
            <a:ext cx="4617720" cy="1310640"/>
          </a:xfrm>
          <a:prstGeom prst="roundRect">
            <a:avLst>
              <a:gd name="adj" fmla="val 6977"/>
            </a:avLst>
          </a:prstGeom>
          <a:solidFill>
            <a:srgbClr val="FDECEA"/>
          </a:solidFill>
          <a:ln w="12700">
            <a:solidFill>
              <a:srgbClr val="E4A6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4770120"/>
            <a:ext cx="46177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B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REVENUE LEAKAGE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5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CloudShare Turns Recovery into a Structured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potentially recoverable cases, analyse transaction context, produce an explainable diagnosis, choose a bounded recovery action, and record the decision.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3931920" cy="704088"/>
          </a:xfrm>
          <a:prstGeom prst="roundRect">
            <a:avLst>
              <a:gd name="adj" fmla="val 11688"/>
            </a:avLst>
          </a:prstGeom>
          <a:solidFill>
            <a:srgbClr val="0F1B3D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377440"/>
            <a:ext cx="457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8B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377440"/>
            <a:ext cx="3291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Event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788920" y="3081528"/>
            <a:ext cx="0" cy="109728"/>
          </a:xfrm>
          <a:prstGeom prst="line">
            <a:avLst/>
          </a:prstGeom>
          <a:noFill/>
          <a:ln w="25400">
            <a:solidFill>
              <a:srgbClr val="C7D1E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212080" y="2377440"/>
            <a:ext cx="5943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 fails or is left incomplete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191256"/>
            <a:ext cx="3931920" cy="704088"/>
          </a:xfrm>
          <a:prstGeom prst="roundRect">
            <a:avLst>
              <a:gd name="adj" fmla="val 11688"/>
            </a:avLst>
          </a:prstGeom>
          <a:solidFill>
            <a:srgbClr val="3159F5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191256"/>
            <a:ext cx="457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8B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191256"/>
            <a:ext cx="3291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Analysis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2788920" y="3895344"/>
            <a:ext cx="0" cy="109728"/>
          </a:xfrm>
          <a:prstGeom prst="line">
            <a:avLst/>
          </a:prstGeom>
          <a:noFill/>
          <a:ln w="25400">
            <a:solidFill>
              <a:srgbClr val="C7D1EA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212080" y="3191256"/>
            <a:ext cx="5943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context is analysed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005072"/>
            <a:ext cx="3931920" cy="704088"/>
          </a:xfrm>
          <a:prstGeom prst="roundRect">
            <a:avLst>
              <a:gd name="adj" fmla="val 11688"/>
            </a:avLst>
          </a:prstGeom>
          <a:solidFill>
            <a:srgbClr val="0F1B3D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005072"/>
            <a:ext cx="457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8B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4005072"/>
            <a:ext cx="3291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2788920" y="4709160"/>
            <a:ext cx="0" cy="109728"/>
          </a:xfrm>
          <a:prstGeom prst="line">
            <a:avLst/>
          </a:prstGeom>
          <a:noFill/>
          <a:ln w="25400">
            <a:solidFill>
              <a:srgbClr val="C7D1EA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212080" y="4005072"/>
            <a:ext cx="5943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recovery reason is produced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4818888"/>
            <a:ext cx="3931920" cy="704088"/>
          </a:xfrm>
          <a:prstGeom prst="roundRect">
            <a:avLst>
              <a:gd name="adj" fmla="val 11688"/>
            </a:avLst>
          </a:prstGeom>
          <a:solidFill>
            <a:srgbClr val="3159F5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4818888"/>
            <a:ext cx="457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8B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818888"/>
            <a:ext cx="3291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Action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2788920" y="5522976"/>
            <a:ext cx="0" cy="109728"/>
          </a:xfrm>
          <a:prstGeom prst="line">
            <a:avLst/>
          </a:prstGeom>
          <a:noFill/>
          <a:ln w="25400">
            <a:solidFill>
              <a:srgbClr val="C7D1EA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212080" y="4818888"/>
            <a:ext cx="5943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 action is chosen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5632704"/>
            <a:ext cx="3931920" cy="704088"/>
          </a:xfrm>
          <a:prstGeom prst="roundRect">
            <a:avLst>
              <a:gd name="adj" fmla="val 11688"/>
            </a:avLst>
          </a:prstGeom>
          <a:solidFill>
            <a:srgbClr val="13B892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5632704"/>
            <a:ext cx="457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8B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25880" y="5632704"/>
            <a:ext cx="3291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212080" y="5632704"/>
            <a:ext cx="5943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is recorded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5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CloudShare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304979" cy="914400"/>
          </a:xfrm>
          <a:prstGeom prst="roundRect">
            <a:avLst>
              <a:gd name="adj" fmla="val 8000"/>
            </a:avLst>
          </a:prstGeom>
          <a:solidFill>
            <a:srgbClr val="0F1B3D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1554480"/>
            <a:ext cx="11952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/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Event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46227" y="2011680"/>
            <a:ext cx="164592" cy="0"/>
          </a:xfrm>
          <a:prstGeom prst="line">
            <a:avLst/>
          </a:prstGeom>
          <a:noFill/>
          <a:ln w="25400">
            <a:solidFill>
              <a:srgbClr val="C7D1E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329107" y="1554480"/>
            <a:ext cx="1304979" cy="914400"/>
          </a:xfrm>
          <a:prstGeom prst="roundRect">
            <a:avLst>
              <a:gd name="adj" fmla="val 8000"/>
            </a:avLst>
          </a:prstGeom>
          <a:solidFill>
            <a:srgbClr val="3159F5"/>
          </a:solidFill>
          <a:ln/>
        </p:spPr>
      </p:sp>
      <p:sp>
        <p:nvSpPr>
          <p:cNvPr id="8" name="Text 6"/>
          <p:cNvSpPr/>
          <p:nvPr/>
        </p:nvSpPr>
        <p:spPr>
          <a:xfrm>
            <a:off x="2383971" y="1554480"/>
            <a:ext cx="11952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2375" y="2011680"/>
            <a:ext cx="164592" cy="0"/>
          </a:xfrm>
          <a:prstGeom prst="line">
            <a:avLst/>
          </a:prstGeom>
          <a:noFill/>
          <a:ln w="25400">
            <a:solidFill>
              <a:srgbClr val="C7D1E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35255" y="1554480"/>
            <a:ext cx="1304979" cy="914400"/>
          </a:xfrm>
          <a:prstGeom prst="roundRect">
            <a:avLst>
              <a:gd name="adj" fmla="val 8000"/>
            </a:avLst>
          </a:prstGeom>
          <a:solidFill>
            <a:srgbClr val="3159F5"/>
          </a:solidFill>
          <a:ln/>
        </p:spPr>
      </p:sp>
      <p:sp>
        <p:nvSpPr>
          <p:cNvPr id="11" name="Text 9"/>
          <p:cNvSpPr/>
          <p:nvPr/>
        </p:nvSpPr>
        <p:spPr>
          <a:xfrm>
            <a:off x="3890119" y="1554480"/>
            <a:ext cx="11952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Recovery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58522" y="2011680"/>
            <a:ext cx="164592" cy="0"/>
          </a:xfrm>
          <a:prstGeom prst="line">
            <a:avLst/>
          </a:prstGeom>
          <a:noFill/>
          <a:ln w="25400">
            <a:solidFill>
              <a:srgbClr val="C7D1E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41402" y="1554480"/>
            <a:ext cx="1304979" cy="914400"/>
          </a:xfrm>
          <a:prstGeom prst="roundRect">
            <a:avLst>
              <a:gd name="adj" fmla="val 8000"/>
            </a:avLst>
          </a:prstGeom>
          <a:solidFill>
            <a:srgbClr val="13B892"/>
          </a:solidFill>
          <a:ln/>
        </p:spPr>
      </p:sp>
      <p:sp>
        <p:nvSpPr>
          <p:cNvPr id="14" name="Text 12"/>
          <p:cNvSpPr/>
          <p:nvPr/>
        </p:nvSpPr>
        <p:spPr>
          <a:xfrm>
            <a:off x="5396266" y="1554480"/>
            <a:ext cx="11952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64670" y="2011680"/>
            <a:ext cx="164592" cy="0"/>
          </a:xfrm>
          <a:prstGeom prst="line">
            <a:avLst/>
          </a:prstGeom>
          <a:noFill/>
          <a:ln w="25400">
            <a:solidFill>
              <a:srgbClr val="C7D1E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47550" y="1554480"/>
            <a:ext cx="1304979" cy="914400"/>
          </a:xfrm>
          <a:prstGeom prst="roundRect">
            <a:avLst>
              <a:gd name="adj" fmla="val 8000"/>
            </a:avLst>
          </a:prstGeom>
          <a:solidFill>
            <a:srgbClr val="13B892"/>
          </a:solidFill>
          <a:ln/>
        </p:spPr>
      </p:sp>
      <p:sp>
        <p:nvSpPr>
          <p:cNvPr id="17" name="Text 15"/>
          <p:cNvSpPr/>
          <p:nvPr/>
        </p:nvSpPr>
        <p:spPr>
          <a:xfrm>
            <a:off x="6902414" y="1554480"/>
            <a:ext cx="11952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Recovery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70817" y="2011680"/>
            <a:ext cx="164592" cy="0"/>
          </a:xfrm>
          <a:prstGeom prst="line">
            <a:avLst/>
          </a:prstGeom>
          <a:noFill/>
          <a:ln w="25400">
            <a:solidFill>
              <a:srgbClr val="C7D1E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353697" y="1554480"/>
            <a:ext cx="1304979" cy="914400"/>
          </a:xfrm>
          <a:prstGeom prst="roundRect">
            <a:avLst>
              <a:gd name="adj" fmla="val 8000"/>
            </a:avLst>
          </a:prstGeom>
          <a:solidFill>
            <a:srgbClr val="0F1B3D"/>
          </a:solidFill>
          <a:ln/>
        </p:spPr>
      </p:sp>
      <p:sp>
        <p:nvSpPr>
          <p:cNvPr id="20" name="Text 18"/>
          <p:cNvSpPr/>
          <p:nvPr/>
        </p:nvSpPr>
        <p:spPr>
          <a:xfrm>
            <a:off x="8408561" y="1554480"/>
            <a:ext cx="11952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76965" y="2011680"/>
            <a:ext cx="164592" cy="0"/>
          </a:xfrm>
          <a:prstGeom prst="line">
            <a:avLst/>
          </a:prstGeom>
          <a:noFill/>
          <a:ln w="25400">
            <a:solidFill>
              <a:srgbClr val="C7D1E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859845" y="1554480"/>
            <a:ext cx="1304979" cy="914400"/>
          </a:xfrm>
          <a:prstGeom prst="roundRect">
            <a:avLst>
              <a:gd name="adj" fmla="val 8000"/>
            </a:avLst>
          </a:prstGeom>
          <a:solidFill>
            <a:srgbClr val="0F1B3D"/>
          </a:solidFill>
          <a:ln/>
        </p:spPr>
      </p:sp>
      <p:sp>
        <p:nvSpPr>
          <p:cNvPr id="23" name="Text 21"/>
          <p:cNvSpPr/>
          <p:nvPr/>
        </p:nvSpPr>
        <p:spPr>
          <a:xfrm>
            <a:off x="9914709" y="1554480"/>
            <a:ext cx="11952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2880360"/>
            <a:ext cx="2448306" cy="2926080"/>
          </a:xfrm>
          <a:prstGeom prst="roundRect">
            <a:avLst>
              <a:gd name="adj" fmla="val 3361"/>
            </a:avLst>
          </a:prstGeom>
          <a:solidFill>
            <a:srgbClr val="F4F6FB"/>
          </a:solidFill>
          <a:ln w="9525">
            <a:solidFill>
              <a:srgbClr val="C7D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4128" y="3172968"/>
            <a:ext cx="2045970" cy="457200"/>
          </a:xfrm>
          <a:prstGeom prst="roundRect">
            <a:avLst>
              <a:gd name="adj" fmla="val 50000"/>
            </a:avLst>
          </a:prstGeom>
          <a:solidFill>
            <a:srgbClr val="0F1B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24128" y="3172968"/>
            <a:ext cx="2045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78992" y="3986784"/>
            <a:ext cx="82296" cy="82296"/>
          </a:xfrm>
          <a:prstGeom prst="ellipse">
            <a:avLst/>
          </a:prstGeom>
          <a:solidFill>
            <a:srgbClr val="3159F5"/>
          </a:solidFill>
          <a:ln/>
        </p:spPr>
      </p:sp>
      <p:sp>
        <p:nvSpPr>
          <p:cNvPr id="28" name="Text 26"/>
          <p:cNvSpPr/>
          <p:nvPr/>
        </p:nvSpPr>
        <p:spPr>
          <a:xfrm>
            <a:off x="1280160" y="3840480"/>
            <a:ext cx="1735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78992" y="4553712"/>
            <a:ext cx="82296" cy="82296"/>
          </a:xfrm>
          <a:prstGeom prst="ellipse">
            <a:avLst/>
          </a:prstGeom>
          <a:solidFill>
            <a:srgbClr val="3159F5"/>
          </a:solidFill>
          <a:ln/>
        </p:spPr>
      </p:sp>
      <p:sp>
        <p:nvSpPr>
          <p:cNvPr id="30" name="Text 28"/>
          <p:cNvSpPr/>
          <p:nvPr/>
        </p:nvSpPr>
        <p:spPr>
          <a:xfrm>
            <a:off x="1280160" y="4407408"/>
            <a:ext cx="1735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workflow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78992" y="5120640"/>
            <a:ext cx="82296" cy="82296"/>
          </a:xfrm>
          <a:prstGeom prst="ellipse">
            <a:avLst/>
          </a:prstGeom>
          <a:solidFill>
            <a:srgbClr val="3159F5"/>
          </a:solidFill>
          <a:ln/>
        </p:spPr>
      </p:sp>
      <p:sp>
        <p:nvSpPr>
          <p:cNvPr id="32" name="Text 30"/>
          <p:cNvSpPr/>
          <p:nvPr/>
        </p:nvSpPr>
        <p:spPr>
          <a:xfrm>
            <a:off x="1280160" y="4974336"/>
            <a:ext cx="1735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078992" y="5687568"/>
            <a:ext cx="82296" cy="82296"/>
          </a:xfrm>
          <a:prstGeom prst="ellipse">
            <a:avLst/>
          </a:prstGeom>
          <a:solidFill>
            <a:srgbClr val="3159F5"/>
          </a:solidFill>
          <a:ln/>
        </p:spPr>
      </p:sp>
      <p:sp>
        <p:nvSpPr>
          <p:cNvPr id="34" name="Text 32"/>
          <p:cNvSpPr/>
          <p:nvPr/>
        </p:nvSpPr>
        <p:spPr>
          <a:xfrm>
            <a:off x="1280160" y="5541264"/>
            <a:ext cx="1735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orchestration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527298" y="2880360"/>
            <a:ext cx="2448306" cy="2926080"/>
          </a:xfrm>
          <a:prstGeom prst="roundRect">
            <a:avLst>
              <a:gd name="adj" fmla="val 3361"/>
            </a:avLst>
          </a:prstGeom>
          <a:solidFill>
            <a:srgbClr val="F4F6FB"/>
          </a:solidFill>
          <a:ln w="9525">
            <a:solidFill>
              <a:srgbClr val="C7D1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8466" y="3172968"/>
            <a:ext cx="2045970" cy="457200"/>
          </a:xfrm>
          <a:prstGeom prst="roundRect">
            <a:avLst>
              <a:gd name="adj" fmla="val 50000"/>
            </a:avLst>
          </a:prstGeom>
          <a:solidFill>
            <a:srgbClr val="0F1B3D"/>
          </a:solidFill>
          <a:ln/>
        </p:spPr>
      </p:sp>
      <p:sp>
        <p:nvSpPr>
          <p:cNvPr id="37" name="Text 35"/>
          <p:cNvSpPr/>
          <p:nvPr/>
        </p:nvSpPr>
        <p:spPr>
          <a:xfrm>
            <a:off x="3728466" y="3172968"/>
            <a:ext cx="2045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Agent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783330" y="3986784"/>
            <a:ext cx="82296" cy="82296"/>
          </a:xfrm>
          <a:prstGeom prst="ellipse">
            <a:avLst/>
          </a:prstGeom>
          <a:solidFill>
            <a:srgbClr val="3159F5"/>
          </a:solidFill>
          <a:ln/>
        </p:spPr>
      </p:sp>
      <p:sp>
        <p:nvSpPr>
          <p:cNvPr id="39" name="Text 37"/>
          <p:cNvSpPr/>
          <p:nvPr/>
        </p:nvSpPr>
        <p:spPr>
          <a:xfrm>
            <a:off x="3984498" y="3840480"/>
            <a:ext cx="1735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analysis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783330" y="4553712"/>
            <a:ext cx="82296" cy="82296"/>
          </a:xfrm>
          <a:prstGeom prst="ellipse">
            <a:avLst/>
          </a:prstGeom>
          <a:solidFill>
            <a:srgbClr val="3159F5"/>
          </a:solidFill>
          <a:ln/>
        </p:spPr>
      </p:sp>
      <p:sp>
        <p:nvSpPr>
          <p:cNvPr id="41" name="Text 39"/>
          <p:cNvSpPr/>
          <p:nvPr/>
        </p:nvSpPr>
        <p:spPr>
          <a:xfrm>
            <a:off x="3984498" y="4407408"/>
            <a:ext cx="1735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783330" y="5120640"/>
            <a:ext cx="82296" cy="82296"/>
          </a:xfrm>
          <a:prstGeom prst="ellipse">
            <a:avLst/>
          </a:prstGeom>
          <a:solidFill>
            <a:srgbClr val="3159F5"/>
          </a:solidFill>
          <a:ln/>
        </p:spPr>
      </p:sp>
      <p:sp>
        <p:nvSpPr>
          <p:cNvPr id="43" name="Text 41"/>
          <p:cNvSpPr/>
          <p:nvPr/>
        </p:nvSpPr>
        <p:spPr>
          <a:xfrm>
            <a:off x="3984498" y="4974336"/>
            <a:ext cx="1735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31636" y="2880360"/>
            <a:ext cx="2448306" cy="2926080"/>
          </a:xfrm>
          <a:prstGeom prst="roundRect">
            <a:avLst>
              <a:gd name="adj" fmla="val 3361"/>
            </a:avLst>
          </a:prstGeom>
          <a:solidFill>
            <a:srgbClr val="F4F6FB"/>
          </a:solidFill>
          <a:ln w="9525">
            <a:solidFill>
              <a:srgbClr val="C7D1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32804" y="3172968"/>
            <a:ext cx="2045970" cy="457200"/>
          </a:xfrm>
          <a:prstGeom prst="roundRect">
            <a:avLst>
              <a:gd name="adj" fmla="val 50000"/>
            </a:avLst>
          </a:prstGeom>
          <a:solidFill>
            <a:srgbClr val="0F1B3D"/>
          </a:solidFill>
          <a:ln/>
        </p:spPr>
      </p:sp>
      <p:sp>
        <p:nvSpPr>
          <p:cNvPr id="46" name="Text 44"/>
          <p:cNvSpPr/>
          <p:nvPr/>
        </p:nvSpPr>
        <p:spPr>
          <a:xfrm>
            <a:off x="6432804" y="3172968"/>
            <a:ext cx="2045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487668" y="3986784"/>
            <a:ext cx="82296" cy="82296"/>
          </a:xfrm>
          <a:prstGeom prst="ellipse">
            <a:avLst/>
          </a:prstGeom>
          <a:solidFill>
            <a:srgbClr val="3159F5"/>
          </a:solidFill>
          <a:ln/>
        </p:spPr>
      </p:sp>
      <p:sp>
        <p:nvSpPr>
          <p:cNvPr id="48" name="Text 46"/>
          <p:cNvSpPr/>
          <p:nvPr/>
        </p:nvSpPr>
        <p:spPr>
          <a:xfrm>
            <a:off x="6688836" y="3840480"/>
            <a:ext cx="1735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visibility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487668" y="4553712"/>
            <a:ext cx="82296" cy="82296"/>
          </a:xfrm>
          <a:prstGeom prst="ellipse">
            <a:avLst/>
          </a:prstGeom>
          <a:solidFill>
            <a:srgbClr val="3159F5"/>
          </a:solidFill>
          <a:ln/>
        </p:spPr>
      </p:sp>
      <p:sp>
        <p:nvSpPr>
          <p:cNvPr id="50" name="Text 48"/>
          <p:cNvSpPr/>
          <p:nvPr/>
        </p:nvSpPr>
        <p:spPr>
          <a:xfrm>
            <a:off x="6688836" y="4407408"/>
            <a:ext cx="1735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935974" y="2880360"/>
            <a:ext cx="2448306" cy="2926080"/>
          </a:xfrm>
          <a:prstGeom prst="roundRect">
            <a:avLst>
              <a:gd name="adj" fmla="val 3361"/>
            </a:avLst>
          </a:prstGeom>
          <a:solidFill>
            <a:srgbClr val="F4F6FB"/>
          </a:solidFill>
          <a:ln w="9525">
            <a:solidFill>
              <a:srgbClr val="C7D1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37142" y="3172968"/>
            <a:ext cx="2045970" cy="457200"/>
          </a:xfrm>
          <a:prstGeom prst="roundRect">
            <a:avLst>
              <a:gd name="adj" fmla="val 50000"/>
            </a:avLst>
          </a:prstGeom>
          <a:solidFill>
            <a:srgbClr val="0F1B3D"/>
          </a:solidFill>
          <a:ln/>
        </p:spPr>
      </p:sp>
      <p:sp>
        <p:nvSpPr>
          <p:cNvPr id="53" name="Text 51"/>
          <p:cNvSpPr/>
          <p:nvPr/>
        </p:nvSpPr>
        <p:spPr>
          <a:xfrm>
            <a:off x="9137142" y="3172968"/>
            <a:ext cx="2045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Layer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192006" y="3986784"/>
            <a:ext cx="82296" cy="82296"/>
          </a:xfrm>
          <a:prstGeom prst="ellipse">
            <a:avLst/>
          </a:prstGeom>
          <a:solidFill>
            <a:srgbClr val="3159F5"/>
          </a:solidFill>
          <a:ln/>
        </p:spPr>
      </p:sp>
      <p:sp>
        <p:nvSpPr>
          <p:cNvPr id="55" name="Text 53"/>
          <p:cNvSpPr/>
          <p:nvPr/>
        </p:nvSpPr>
        <p:spPr>
          <a:xfrm>
            <a:off x="9393174" y="3840480"/>
            <a:ext cx="1735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9192006" y="4553712"/>
            <a:ext cx="82296" cy="82296"/>
          </a:xfrm>
          <a:prstGeom prst="ellipse">
            <a:avLst/>
          </a:prstGeom>
          <a:solidFill>
            <a:srgbClr val="3159F5"/>
          </a:solidFill>
          <a:ln/>
        </p:spPr>
      </p:sp>
      <p:sp>
        <p:nvSpPr>
          <p:cNvPr id="57" name="Text 55"/>
          <p:cNvSpPr/>
          <p:nvPr/>
        </p:nvSpPr>
        <p:spPr>
          <a:xfrm>
            <a:off x="9393174" y="4407408"/>
            <a:ext cx="1735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history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Where It Helps.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Logic Where It Matters.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2400300" cy="777240"/>
          </a:xfrm>
          <a:prstGeom prst="roundRect">
            <a:avLst>
              <a:gd name="adj" fmla="val 9412"/>
            </a:avLst>
          </a:prstGeom>
          <a:solidFill>
            <a:srgbClr val="16234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2400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23260" y="2628900"/>
            <a:ext cx="32004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43300" y="2240280"/>
            <a:ext cx="2400300" cy="777240"/>
          </a:xfrm>
          <a:prstGeom prst="roundRect">
            <a:avLst>
              <a:gd name="adj" fmla="val 9412"/>
            </a:avLst>
          </a:prstGeom>
          <a:solidFill>
            <a:srgbClr val="3159F5"/>
          </a:solidFill>
          <a:ln/>
        </p:spPr>
      </p:sp>
      <p:sp>
        <p:nvSpPr>
          <p:cNvPr id="8" name="Text 6"/>
          <p:cNvSpPr/>
          <p:nvPr/>
        </p:nvSpPr>
        <p:spPr>
          <a:xfrm>
            <a:off x="3543300" y="2240280"/>
            <a:ext cx="2400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Logic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2628900"/>
            <a:ext cx="32004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63640" y="2240280"/>
            <a:ext cx="2400300" cy="777240"/>
          </a:xfrm>
          <a:prstGeom prst="roundRect">
            <a:avLst>
              <a:gd name="adj" fmla="val 9412"/>
            </a:avLst>
          </a:prstGeom>
          <a:solidFill>
            <a:srgbClr val="3159F5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240280"/>
            <a:ext cx="2400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63940" y="2628900"/>
            <a:ext cx="32004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983980" y="2240280"/>
            <a:ext cx="2400300" cy="777240"/>
          </a:xfrm>
          <a:prstGeom prst="roundRect">
            <a:avLst>
              <a:gd name="adj" fmla="val 9412"/>
            </a:avLst>
          </a:prstGeom>
          <a:solidFill>
            <a:srgbClr val="0F1B3D"/>
          </a:solidFill>
          <a:ln/>
        </p:spPr>
      </p:sp>
      <p:sp>
        <p:nvSpPr>
          <p:cNvPr id="14" name="Text 12"/>
          <p:cNvSpPr/>
          <p:nvPr/>
        </p:nvSpPr>
        <p:spPr>
          <a:xfrm>
            <a:off x="8983980" y="2240280"/>
            <a:ext cx="2400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1892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MONEY PATH — DETERMINISTIC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3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PATH — LANGUAGE ONLY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365760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13B89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657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31920" y="4046220"/>
            <a:ext cx="32004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251960" y="3657600"/>
            <a:ext cx="4389120" cy="777240"/>
          </a:xfrm>
          <a:prstGeom prst="roundRect">
            <a:avLst>
              <a:gd name="adj" fmla="val 9412"/>
            </a:avLst>
          </a:prstGeom>
          <a:solidFill>
            <a:srgbClr val="E7ECFA"/>
          </a:solidFill>
          <a:ln w="15875">
            <a:solidFill>
              <a:srgbClr val="13B89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365760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Recovery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892040"/>
            <a:ext cx="10561320" cy="1600200"/>
          </a:xfrm>
          <a:prstGeom prst="roundRect">
            <a:avLst>
              <a:gd name="adj" fmla="val 5714"/>
            </a:avLst>
          </a:prstGeom>
          <a:solidFill>
            <a:srgbClr val="0F1B3D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507492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intentionally did not give an LLM unrestricted control over financial actions.”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43000" y="5669280"/>
            <a:ext cx="9921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financial recovery logic stays controlled and explainable. AI assists only where language generation is useful — which improves both safety and auditability.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5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as a Multi-Service Fintech Application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 w="12700">
            <a:solidFill>
              <a:srgbClr val="C7D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383280" y="2258568"/>
            <a:ext cx="0" cy="201168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22960" y="2459736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7ECFA"/>
          </a:solidFill>
          <a:ln w="12700">
            <a:solidFill>
              <a:srgbClr val="C7D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5973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3118104"/>
            <a:ext cx="0" cy="201168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3319272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0F1B3D"/>
          </a:solidFill>
          <a:ln w="12700">
            <a:solidFill>
              <a:srgbClr val="162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1927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+ Spring Boot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383280" y="3977640"/>
            <a:ext cx="0" cy="201168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2960" y="4178808"/>
            <a:ext cx="2446020" cy="658368"/>
          </a:xfrm>
          <a:prstGeom prst="roundRect">
            <a:avLst>
              <a:gd name="adj" fmla="val 11111"/>
            </a:avLst>
          </a:prstGeom>
          <a:solidFill>
            <a:srgbClr val="3159F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78808"/>
            <a:ext cx="24460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97580" y="4178808"/>
            <a:ext cx="2446020" cy="658368"/>
          </a:xfrm>
          <a:prstGeom prst="roundRect">
            <a:avLst>
              <a:gd name="adj" fmla="val 11111"/>
            </a:avLst>
          </a:prstGeom>
          <a:solidFill>
            <a:srgbClr val="13B892"/>
          </a:solidFill>
          <a:ln/>
        </p:spPr>
      </p:sp>
      <p:sp>
        <p:nvSpPr>
          <p:cNvPr id="16" name="Text 14"/>
          <p:cNvSpPr/>
          <p:nvPr/>
        </p:nvSpPr>
        <p:spPr>
          <a:xfrm>
            <a:off x="3497580" y="4178808"/>
            <a:ext cx="24460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2459736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 w="12700">
            <a:solidFill>
              <a:srgbClr val="C7D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45973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892540" y="3118104"/>
            <a:ext cx="0" cy="201168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0" y="3319272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3159F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319272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Agent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053328" y="2788920"/>
            <a:ext cx="237744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0" y="24963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call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2960" y="5202936"/>
            <a:ext cx="3337560" cy="594360"/>
          </a:xfrm>
          <a:prstGeom prst="roundRect">
            <a:avLst>
              <a:gd name="adj" fmla="val 15385"/>
            </a:avLst>
          </a:prstGeom>
          <a:solidFill>
            <a:srgbClr val="E7ECF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20293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34840" y="5202936"/>
            <a:ext cx="3337560" cy="594360"/>
          </a:xfrm>
          <a:prstGeom prst="roundRect">
            <a:avLst>
              <a:gd name="adj" fmla="val 15385"/>
            </a:avLst>
          </a:prstGeom>
          <a:solidFill>
            <a:srgbClr val="E7ECFA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520293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5202936"/>
            <a:ext cx="3337560" cy="594360"/>
          </a:xfrm>
          <a:prstGeom prst="roundRect">
            <a:avLst>
              <a:gd name="adj" fmla="val 15385"/>
            </a:avLst>
          </a:prstGeom>
          <a:solidFill>
            <a:srgbClr val="E7ECFA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0" y="520293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Environment-based configuration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5980176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keys and webhook secrets are kept in environment variables, never hard-coded into the repo.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5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Actually Difficult?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852160" cy="973836"/>
          </a:xfrm>
          <a:prstGeom prst="roundRect">
            <a:avLst>
              <a:gd name="adj" fmla="val 7512"/>
            </a:avLst>
          </a:prstGeom>
          <a:solidFill>
            <a:srgbClr val="F4F6FB"/>
          </a:solidFill>
          <a:ln w="9525">
            <a:solidFill>
              <a:srgbClr val="C7D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215134"/>
            <a:ext cx="292608" cy="292608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151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81328" y="1874520"/>
            <a:ext cx="502920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Python recovery agent with the Spring Boot application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012948"/>
            <a:ext cx="5852160" cy="973836"/>
          </a:xfrm>
          <a:prstGeom prst="roundRect">
            <a:avLst>
              <a:gd name="adj" fmla="val 7512"/>
            </a:avLst>
          </a:prstGeom>
          <a:solidFill>
            <a:srgbClr val="F4F6FB"/>
          </a:solidFill>
          <a:ln w="9525">
            <a:solidFill>
              <a:srgbClr val="C7D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3353562"/>
            <a:ext cx="292608" cy="292608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35356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81328" y="3012948"/>
            <a:ext cx="502920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explainable recovery decisions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151376"/>
            <a:ext cx="5852160" cy="973836"/>
          </a:xfrm>
          <a:prstGeom prst="roundRect">
            <a:avLst>
              <a:gd name="adj" fmla="val 7512"/>
            </a:avLst>
          </a:prstGeom>
          <a:solidFill>
            <a:srgbClr val="F4F6FB"/>
          </a:solidFill>
          <a:ln w="9525">
            <a:solidFill>
              <a:srgbClr val="C7D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4491990"/>
            <a:ext cx="292608" cy="292608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49199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81328" y="4151376"/>
            <a:ext cx="502920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safe boundaries for AI in a fintech workflow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289804"/>
            <a:ext cx="5852160" cy="973836"/>
          </a:xfrm>
          <a:prstGeom prst="roundRect">
            <a:avLst>
              <a:gd name="adj" fmla="val 7512"/>
            </a:avLst>
          </a:prstGeom>
          <a:solidFill>
            <a:srgbClr val="F4F6FB"/>
          </a:solidFill>
          <a:ln w="9525">
            <a:solidFill>
              <a:srgbClr val="C7D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5630418"/>
            <a:ext cx="292608" cy="292608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63041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81328" y="5289804"/>
            <a:ext cx="502920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prototype behaviour from production payment infrastructure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95160" y="1874520"/>
            <a:ext cx="4389120" cy="4389120"/>
          </a:xfrm>
          <a:prstGeom prst="roundRect">
            <a:avLst>
              <a:gd name="adj" fmla="val 2083"/>
            </a:avLst>
          </a:prstGeom>
          <a:solidFill>
            <a:srgbClr val="0F1B3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2194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26517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“Building AI for fintech is not just about adding an LLM.”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0" y="3977640"/>
            <a:ext cx="91440" cy="91440"/>
          </a:xfrm>
          <a:prstGeom prst="ellipse">
            <a:avLst/>
          </a:prstGeom>
          <a:solidFill>
            <a:srgbClr val="13B892"/>
          </a:solidFill>
          <a:ln/>
        </p:spPr>
      </p:sp>
      <p:sp>
        <p:nvSpPr>
          <p:cNvPr id="24" name="Text 22"/>
          <p:cNvSpPr/>
          <p:nvPr/>
        </p:nvSpPr>
        <p:spPr>
          <a:xfrm>
            <a:off x="7543800" y="3840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where AI adds value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15200" y="4480560"/>
            <a:ext cx="91440" cy="91440"/>
          </a:xfrm>
          <a:prstGeom prst="ellipse">
            <a:avLst/>
          </a:prstGeom>
          <a:solidFill>
            <a:srgbClr val="13B892"/>
          </a:solidFill>
          <a:ln/>
        </p:spPr>
      </p:sp>
      <p:sp>
        <p:nvSpPr>
          <p:cNvPr id="26" name="Text 24"/>
          <p:cNvSpPr/>
          <p:nvPr/>
        </p:nvSpPr>
        <p:spPr>
          <a:xfrm>
            <a:off x="7543800" y="4343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critical decisions controlled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315200" y="4983480"/>
            <a:ext cx="91440" cy="91440"/>
          </a:xfrm>
          <a:prstGeom prst="ellipse">
            <a:avLst/>
          </a:prstGeom>
          <a:solidFill>
            <a:srgbClr val="13B892"/>
          </a:solidFill>
          <a:ln/>
        </p:spPr>
      </p:sp>
      <p:sp>
        <p:nvSpPr>
          <p:cNvPr id="28" name="Text 26"/>
          <p:cNvSpPr/>
          <p:nvPr/>
        </p:nvSpPr>
        <p:spPr>
          <a:xfrm>
            <a:off x="7543800" y="4846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actions auditable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315200" y="5486400"/>
            <a:ext cx="91440" cy="91440"/>
          </a:xfrm>
          <a:prstGeom prst="ellipse">
            <a:avLst/>
          </a:prstGeom>
          <a:solidFill>
            <a:srgbClr val="13B892"/>
          </a:solidFill>
          <a:ln/>
        </p:spPr>
      </p:sp>
      <p:sp>
        <p:nvSpPr>
          <p:cNvPr id="30" name="Text 28"/>
          <p:cNvSpPr/>
          <p:nvPr/>
        </p:nvSpPr>
        <p:spPr>
          <a:xfrm>
            <a:off x="7543800" y="5349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real-world safety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5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NEXT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4983480" cy="260604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 w="9525">
            <a:solidFill>
              <a:srgbClr val="C7D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659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3B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VALUE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97280" y="2450592"/>
            <a:ext cx="91440" cy="91440"/>
          </a:xfrm>
          <a:prstGeom prst="ellipse">
            <a:avLst/>
          </a:prstGeom>
          <a:solidFill>
            <a:srgbClr val="13B892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32257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recovery workflow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907792"/>
            <a:ext cx="91440" cy="91440"/>
          </a:xfrm>
          <a:prstGeom prst="ellipse">
            <a:avLst/>
          </a:prstGeom>
          <a:solidFill>
            <a:srgbClr val="13B892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277977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decisions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3364992"/>
            <a:ext cx="91440" cy="91440"/>
          </a:xfrm>
          <a:prstGeom prst="ellipse">
            <a:avLst/>
          </a:prstGeom>
          <a:solidFill>
            <a:srgbClr val="13B892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323697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audit trail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3822192"/>
            <a:ext cx="91440" cy="91440"/>
          </a:xfrm>
          <a:prstGeom prst="ellipse">
            <a:avLst/>
          </a:prstGeom>
          <a:solidFill>
            <a:srgbClr val="13B892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369417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communication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526280"/>
            <a:ext cx="4983480" cy="1005840"/>
          </a:xfrm>
          <a:prstGeom prst="roundRect">
            <a:avLst>
              <a:gd name="adj" fmla="val 9091"/>
            </a:avLst>
          </a:prstGeom>
          <a:solidFill>
            <a:srgbClr val="FDECEA"/>
          </a:solidFill>
          <a:ln w="9525">
            <a:solidFill>
              <a:srgbClr val="E4A6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6634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B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BOUNDARY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97280" y="484632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B2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settlement and notification behaviour is simulated, not connected to production infrastructure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55080" y="1737360"/>
            <a:ext cx="4983480" cy="3794760"/>
          </a:xfrm>
          <a:prstGeom prst="roundRect">
            <a:avLst>
              <a:gd name="adj" fmla="val 2410"/>
            </a:avLst>
          </a:prstGeom>
          <a:solidFill>
            <a:srgbClr val="0F1B3D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19659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29400" y="2450592"/>
            <a:ext cx="91440" cy="91440"/>
          </a:xfrm>
          <a:prstGeom prst="ellipse">
            <a:avLst/>
          </a:prstGeom>
          <a:solidFill>
            <a:srgbClr val="8FA3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2322576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payment webhooks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29400" y="2953512"/>
            <a:ext cx="91440" cy="91440"/>
          </a:xfrm>
          <a:prstGeom prst="ellipse">
            <a:avLst/>
          </a:prstGeom>
          <a:solidFill>
            <a:srgbClr val="8FA3F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2825496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notification channels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3456432"/>
            <a:ext cx="91440" cy="91440"/>
          </a:xfrm>
          <a:prstGeom prst="ellipse">
            <a:avLst/>
          </a:prstGeom>
          <a:solidFill>
            <a:srgbClr val="8FA3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3328416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monitoring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29400" y="3959352"/>
            <a:ext cx="91440" cy="91440"/>
          </a:xfrm>
          <a:prstGeom prst="ellipse">
            <a:avLst/>
          </a:prstGeom>
          <a:solidFill>
            <a:srgbClr val="8FA3FF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3831336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evaluation datasets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29400" y="4462272"/>
            <a:ext cx="91440" cy="91440"/>
          </a:xfrm>
          <a:prstGeom prst="ellipse">
            <a:avLst/>
          </a:prstGeom>
          <a:solidFill>
            <a:srgbClr val="8FA3FF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4334256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advanced bounded agent planning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5806440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“CloudShare is designed to turn payment recovery from a manual follow-up process into an explainable and auditable workflow.”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2026-08-21T10:28:33Z</dcterms:created>
  <dcterms:modified xsi:type="dcterms:W3CDTF">2026-08-21T10:28:33Z</dcterms:modified>
</cp:coreProperties>
</file>